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a from-scratch TLS-style handshake, then we attack it and fix it. One consistent story: build, document,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problem plainly: a secure-looking encrypted channel can still be fully exposed if the key exchange isn't authenticated.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are measurable and each maps to a CIA-triad property. O5 is the security experiment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ethics: everything is on 127.0.0.1 against our own code. This is the graded ethical-discipline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 phases. Phases 4 and 5 are highlighted - the attack and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assessment lifecycle and show the message flow the code implements.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lab setup and the five code modules. Stress loopback-only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moment: play the recorded demo. Point to scenario 2 (attacker reads plaintext) then scenario 3 (client aborts).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numbered findings, each with a CVSS score. F-01 is the headline critical-path finding proven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finding is closed with a concrete fix and a re-test - the rubric rewards remediation + proof it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difficulties and end on the one-line lesson: encryption is not security without authentication.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Close, thank the audience, and be ready for: why this method, how severities were judged, what the test could not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INFORMATION SECURITY  |  SEMESTER PROJECT  |  SUMMER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Building &amp; Attacking a Simplified</a:t>
            </a:r>
          </a:p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TLS-Style Handshake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1">
                <a:solidFill>
                  <a:srgbClr val="D9DEEA"/>
                </a:solidFill>
                <a:latin typeface="Calibri"/>
              </a:rPr>
              <a:t>A client/server key exchange over sockets - and a man-in-the-middle assessment of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03904" y="4937760"/>
            <a:ext cx="45720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3904" y="5029200"/>
            <a:ext cx="45720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Mihyar Al-Taher Al-Mustiri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Instructor: Ms. Nada Salaheddin Gheriyani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9AA3B5"/>
                </a:solidFill>
                <a:latin typeface="Calibri"/>
              </a:rPr>
              <a:t>Python + sockets | Network security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Why a key exchange needs more than encryption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Encryption alone is not security. </a:t>
            </a:r>
            <a:r>
              <a:rPr sz="1600">
                <a:solidFill>
                  <a:srgbClr val="D9DEEA"/>
                </a:solidFill>
                <a:latin typeface="Calibri"/>
              </a:rPr>
              <a:t>Two programs must first agree on a secret key over a channel an attacker can read.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TLS solves this with a handshake </a:t>
            </a:r>
            <a:r>
              <a:rPr sz="1600">
                <a:solidFill>
                  <a:srgbClr val="D9DEEA"/>
                </a:solidFill>
                <a:latin typeface="Calibri"/>
              </a:rPr>
              <a:t>- hello, key exchange, key derivation, then an encrypted channel.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The risk hides in one step. </a:t>
            </a:r>
            <a:r>
              <a:rPr sz="1600">
                <a:solidFill>
                  <a:srgbClr val="D9DEEA"/>
                </a:solidFill>
                <a:latin typeface="Calibri"/>
              </a:rPr>
              <a:t>If the client accepts a key with no proof of who sent it, an attacker in the middle can become that party.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600" b="1">
                <a:solidFill>
                  <a:srgbClr val="FFFFFF"/>
                </a:solidFill>
                <a:latin typeface="Calibri"/>
              </a:rPr>
              <a:t>Our question: </a:t>
            </a:r>
            <a:r>
              <a:rPr sz="1600">
                <a:solidFill>
                  <a:srgbClr val="D9DEEA"/>
                </a:solidFill>
                <a:latin typeface="Calibri"/>
              </a:rPr>
              <a:t>what exactly breaks when authentication is missing - and can we measure 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783080"/>
            <a:ext cx="34747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C02A2A"/>
                </a:solidFill>
                <a:latin typeface="Calibri"/>
              </a:rPr>
              <a:t>THE CORE THREAT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Client  &lt;-&gt;  ???  &lt;-&gt;  Server</a:t>
            </a:r>
          </a:p>
          <a:p>
            <a:pPr algn="l">
              <a:spcAft>
                <a:spcPts val="1200"/>
              </a:spcAft>
            </a:pPr>
            <a:r>
              <a:rPr sz="1400" b="0" i="1">
                <a:solidFill>
                  <a:srgbClr val="D9DEEA"/>
                </a:solidFill>
                <a:latin typeface="Calibri"/>
              </a:rPr>
              <a:t>A man-in-the-middle who is never authenticated can negotiate one key with each side and read everything - while both sides think the session is normal.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Five measurable goals, mapped to the CIA triad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1417320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1417320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Establish a shared session key over an untrusted channel (ephemeral Diffie-Hellman)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1417320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1417320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Confidentiality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50008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50008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08760" y="2350008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40" y="2350008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Encrypt application data with AES-256-GCM and detect any tampering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350008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350008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Confidentiality + Integrity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282696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82696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8760" y="3282696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3282696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Bind the whole handshake with a Finished MAC over the transcript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3282696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3282696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Integrity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15384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15384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08760" y="4215384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91640" y="4215384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Authenticate the server so the client knows who holds the key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60" y="4215384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1160" y="4215384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Authenticity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148072"/>
            <a:ext cx="822960" cy="841248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148072"/>
            <a:ext cx="822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08760" y="5148072"/>
            <a:ext cx="768096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91640" y="5148072"/>
            <a:ext cx="74066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Measure it: MITM succeeds without O4, fails with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81160" y="5148072"/>
            <a:ext cx="2286000" cy="841248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148072"/>
            <a:ext cx="2286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61F33"/>
                </a:solidFill>
                <a:latin typeface="Calibri"/>
              </a:rPr>
              <a:t>Verification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Scope &amp; Rules of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Authorized, local, and self-owned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566160" cy="4297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56616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63040"/>
            <a:ext cx="3566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Our own client, server, and protocol code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The loopback interface 127.0.0.1 only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The included MITM tool, against our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4297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63040"/>
            <a:ext cx="3566160" cy="54864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463040"/>
            <a:ext cx="3566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FORBIDDEN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24028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Any third-party or production system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Any real network beyond loopback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Disclosing or weaponizing findings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566160" cy="4297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63040"/>
            <a:ext cx="3566160" cy="548640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1463040"/>
            <a:ext cx="35661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4028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Authorization first - we own the target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Document every step with evidence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300">
                <a:solidFill>
                  <a:srgbClr val="D9DEEA"/>
                </a:solidFill>
                <a:latin typeface="Calibri"/>
              </a:rPr>
              <a:t>Attack only to prove a flaw, then fix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9AA3B5"/>
                </a:solidFill>
                <a:latin typeface="Calibri"/>
              </a:rPr>
              <a:t>Legal &amp; ethical: all testing ran on the student's own machine; no unauthorized system was touched. "The difference between a professional and a criminal is written permission."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Six steps from scoping to delivery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5568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Scope &amp; ROE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Define target,
get authorization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4872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Recon &amp;
Design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Locate trust
assumptions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9472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9472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6824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Vulnerability
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6824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Automated
property tests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8776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21424" y="2240280"/>
            <a:ext cx="548640" cy="54864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21424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Exploitation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8776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Controlled MITM
on the lab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0728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23376" y="2240280"/>
            <a:ext cx="54864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8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Hardening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8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Add auth,
re-test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2011680"/>
            <a:ext cx="1783080" cy="2651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625328" y="2240280"/>
            <a:ext cx="548640" cy="548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25328" y="22402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7180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Report &amp;
Present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2680" y="3840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D9DEEA"/>
                </a:solidFill>
                <a:latin typeface="Calibri"/>
              </a:rPr>
              <a:t>Document,
defend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12064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9AA3B5"/>
                </a:solidFill>
                <a:latin typeface="Calibri"/>
              </a:rPr>
              <a:t>Approve scope -&gt; review design -&gt; assess -&gt; exploit (MITM) -&gt; harden &amp; re-test -&gt; report &amp; present.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Recon -&gt; scanning -&gt; exploitation -&gt;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Threat model: </a:t>
            </a:r>
            <a:r>
              <a:rPr sz="1500">
                <a:solidFill>
                  <a:srgbClr val="D9DEEA"/>
                </a:solidFill>
                <a:latin typeface="Calibri"/>
              </a:rPr>
              <a:t>a Dolev-Yao attacker who can read, modify, drop, and inject - and sit in the middle.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Design review: </a:t>
            </a:r>
            <a:r>
              <a:rPr sz="1500">
                <a:solidFill>
                  <a:srgbClr val="D9DEEA"/>
                </a:solidFill>
                <a:latin typeface="Calibri"/>
              </a:rPr>
              <a:t>the ServerHello is where the client accepts a key with no proof of identity.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Vulnerability assessment: </a:t>
            </a:r>
            <a:r>
              <a:rPr sz="1500">
                <a:solidFill>
                  <a:srgbClr val="D9DEEA"/>
                </a:solidFill>
                <a:latin typeface="Calibri"/>
              </a:rPr>
              <a:t>5 automated tests - honest keys match, forged keys differ, GCM rejects tampering, Finished covers transcript.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Exploitation: </a:t>
            </a:r>
            <a:r>
              <a:rPr sz="1500">
                <a:solidFill>
                  <a:srgbClr val="D9DEEA"/>
                </a:solidFill>
                <a:latin typeface="Calibri"/>
              </a:rPr>
              <a:t>a MITM proxy runs a full handshake with each side and relays decrypted traffic.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CIA analysis: </a:t>
            </a:r>
            <a:r>
              <a:rPr sz="1500">
                <a:solidFill>
                  <a:srgbClr val="D9DEEA"/>
                </a:solidFill>
                <a:latin typeface="Calibri"/>
              </a:rPr>
              <a:t>without authenticity, confidentiality collapses - the key is agreed with the wrong party.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120640" cy="4480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916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2A2A"/>
                </a:solidFill>
                <a:latin typeface="Calibri"/>
              </a:rPr>
              <a:t>HANDSHAKE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Client                      Server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|-- ClientHello (Nc) -------&gt;|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|&lt;- ServerHello (Ns, g^b) ---|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|-- ClientKeyExch (g^a) ----&gt;|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  K = HKDF((g^b)^a, Nc|Ns)  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|&lt;----- Finished MAC -------&gt;|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9DEEA"/>
                </a:solidFill>
                <a:latin typeface="Consolas"/>
              </a:rPr>
              <a:t> |== AES-256-GCM app data ===|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Lab Environment &amp;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Everything on loopback - nothing leaves the machine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Host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146304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146304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One laptop, macOS - all sockets on 127.0.0.1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Runtime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219456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219456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Python 3.11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2608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Crypto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92608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292608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pyca/cryptography (AES-256-GCM, Ed25519)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5760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Suite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365760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365760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DHE-HKDF-SHA256-AES256GCM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38912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8912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DH group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438912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8912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RFC 3526 2048-bit MODP (Group 14)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120640"/>
            <a:ext cx="2286000" cy="6400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22860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Identity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71800" y="5120640"/>
            <a:ext cx="4160520" cy="64008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54680" y="5120640"/>
            <a:ext cx="39776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D9DEEA"/>
                </a:solidFill>
                <a:latin typeface="Calibri"/>
              </a:rPr>
              <a:t>Ed25519 long-term key, pinned by client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06640" y="1463040"/>
            <a:ext cx="4206240" cy="4572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160020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02A2A"/>
                </a:solidFill>
                <a:latin typeface="Calibri"/>
              </a:rPr>
              <a:t>TOPOLOGY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2194560"/>
            <a:ext cx="3840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Normal: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client &lt;-&gt; server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Attack: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client &lt;-&gt; MITM &lt;-&gt; server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Modules: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tls_common | tls_server | tls_client | mitm | run_demo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Live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One command: python3 src/run_demo.py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7772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554480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15544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Normal handshake (insecure)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Handshake completes | data AES-256-GCM encrypted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78608"/>
            <a:ext cx="777240" cy="9144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78608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578608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2578608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MITM vs. insecure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578608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578608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02A2A"/>
                </a:solidFill>
                <a:latin typeface="Calibri"/>
              </a:rPr>
              <a:t>Attacker DECRYPTS all traffic in the clear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02736"/>
            <a:ext cx="7772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02736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3602736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0" y="3602736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MITM vs. authenticated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602736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602736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Client ABORTS - "Invalid server signature"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4626864"/>
            <a:ext cx="475488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4626864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Normal handshake (secure)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626864"/>
            <a:ext cx="5303520" cy="914400"/>
          </a:xfrm>
          <a:prstGeom prst="rect">
            <a:avLst/>
          </a:prstGeom>
          <a:solidFill>
            <a:srgbClr val="22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626864"/>
            <a:ext cx="51206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9DEEA"/>
                </a:solidFill>
                <a:latin typeface="Calibri"/>
              </a:rPr>
              <a:t>Fix is non-breaking - honest session works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69A00"/>
                </a:solidFill>
                <a:latin typeface="Calibri"/>
              </a:rPr>
              <a:t>&gt;&gt; Play the recorded terminal capture here (docs/evidence/demo_output.txt).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Numbered, with CVSS 3.1 severity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914400" cy="86868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508760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Unauthenticated key exchange -&gt; full MITM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09928"/>
            <a:ext cx="4337913" cy="4572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38713" y="1508760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HIGH  7.4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914400" cy="86868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96312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496312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No forward secrecy if DH keys reused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697480"/>
            <a:ext cx="3569817" cy="45720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70617" y="2496312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69A00"/>
                </a:solidFill>
                <a:latin typeface="Calibri"/>
              </a:rPr>
              <a:t>MED  5.9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83864"/>
            <a:ext cx="914400" cy="86868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83864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483864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AES-GCM nonce reuse would be catastrophic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85032"/>
            <a:ext cx="3569817" cy="457200"/>
          </a:xfrm>
          <a:prstGeom prst="rect">
            <a:avLst/>
          </a:prstGeom>
          <a:solidFill>
            <a:srgbClr val="E6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0617" y="3483864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69A00"/>
                </a:solidFill>
                <a:latin typeface="Calibri"/>
              </a:rPr>
              <a:t>MED  5.9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471416"/>
            <a:ext cx="914400" cy="868680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71416"/>
            <a:ext cx="914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471416"/>
            <a:ext cx="4572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Trust bootstrapped by key pinning, no PKI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72584"/>
            <a:ext cx="2443276" cy="457200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44076" y="4471416"/>
            <a:ext cx="1463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4C8BF5"/>
                </a:solidFill>
                <a:latin typeface="Calibri"/>
              </a:rPr>
              <a:t>LOW  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Remediation &amp; Hardening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Every finding has a fix - and a re-test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463040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463040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Sign the DH key with a long-term Ed25519 key; client verifies + pins it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Re-test: MITM defeated, client aborts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33472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33472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633472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2633472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Fresh ephemeral DH key pair every session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Past sessions stay safe if a key leaks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03904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03904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3803904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3803904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Monotonic per-record sequence-number nonce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A (key, nonce) pair never repeats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74336"/>
            <a:ext cx="914400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9144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F-04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91640" y="4974336"/>
            <a:ext cx="9875520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4974336"/>
            <a:ext cx="9509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Roadmap: integrate X.509 certificates / PKI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CD97C"/>
                </a:solidFill>
                <a:latin typeface="Calibri"/>
              </a:rPr>
              <a:t>[OK] Accepted limitation, documented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972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 i="0">
                <a:solidFill>
                  <a:srgbClr val="C02A2A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914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Challenges &amp; Lessons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76656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D9DEEA"/>
                </a:solidFill>
                <a:latin typeface="Calibri"/>
              </a:rPr>
              <a:t>What was hard, and what it taught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Orchestrating three sockets </a:t>
            </a:r>
            <a:r>
              <a:rPr sz="1500">
                <a:solidFill>
                  <a:srgbClr val="D9DEEA"/>
                </a:solidFill>
                <a:latin typeface="Calibri"/>
              </a:rPr>
              <a:t>(client, MITM, server) without deadlock - solved with readiness signalling.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Getting the MITM to truly decrypt </a:t>
            </a:r>
            <a:r>
              <a:rPr sz="1500">
                <a:solidFill>
                  <a:srgbClr val="D9DEEA"/>
                </a:solidFill>
                <a:latin typeface="Calibri"/>
              </a:rPr>
              <a:t>meant maintaining two independent transcripts and key sets.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4C8BF5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Keeping the crypto correct </a:t>
            </a:r>
            <a:r>
              <a:rPr sz="1500">
                <a:solidFill>
                  <a:srgbClr val="D9DEEA"/>
                </a:solidFill>
                <a:latin typeface="Calibri"/>
              </a:rPr>
              <a:t>- fixed-width DH encoding, HKDF salting, GCM nonce discipline.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5212080" cy="4572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6459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KEY LESSONS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402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7CD97C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Encryption is not security </a:t>
            </a:r>
            <a:r>
              <a:rPr sz="1500">
                <a:solidFill>
                  <a:srgbClr val="D9DEEA"/>
                </a:solidFill>
                <a:latin typeface="Calibri"/>
              </a:rPr>
              <a:t>without authentication.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7CD97C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Attacking your own code </a:t>
            </a:r>
            <a:r>
              <a:rPr sz="1500">
                <a:solidFill>
                  <a:srgbClr val="D9DEEA"/>
                </a:solidFill>
                <a:latin typeface="Calibri"/>
              </a:rPr>
              <a:t>is the fastest way to understand it.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7CD97C"/>
                </a:solidFill>
                <a:latin typeface="Calibri"/>
              </a:rPr>
              <a:t>&gt;  </a:t>
            </a:r>
            <a:r>
              <a:rPr sz="1500" b="1">
                <a:solidFill>
                  <a:srgbClr val="FFFFFF"/>
                </a:solidFill>
                <a:latin typeface="Calibri"/>
              </a:rPr>
              <a:t>Future work: </a:t>
            </a:r>
            <a:r>
              <a:rPr sz="1500">
                <a:solidFill>
                  <a:srgbClr val="D9DEEA"/>
                </a:solidFill>
                <a:latin typeface="Calibri"/>
              </a:rPr>
              <a:t>X.509/PKI, X25519 + TLS 1.3 schedule, post-quantum hybrid KEX.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695" cy="38100"/>
          </a:xfrm>
          <a:prstGeom prst="rect">
            <a:avLst/>
          </a:prstGeom>
          <a:solidFill>
            <a:srgbClr val="C0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4C8BF5"/>
                </a:solidFill>
                <a:latin typeface="Calibri"/>
              </a:rPr>
              <a:t>Questions &amp;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D9DEEA"/>
                </a:solidFill>
                <a:latin typeface="Calibri"/>
              </a:rPr>
              <a:t>Mihyar Al-Taher Al-Mustiri  |  github.com/Mhyiar98/tls-handshake-project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20040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C02A2A"/>
                </a:solidFill>
                <a:latin typeface="Calibri"/>
              </a:rPr>
              <a:t>Selected references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[1] RFC 8446 - TLS 1.3 (Rescorla, 2018)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[2] RFC 5869 - HKDF (Krawczyk &amp; Eronen, 2010)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[3] RFC 3526 - MODP DH groups (2003)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[4] NIST SP 800-38D - AES-GCM (Dworkin, 2007)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[5] RFC 8032 - Ed25519 / EdDSA (2017)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D9DEEA"/>
                </a:solidFill>
                <a:latin typeface="Calibri"/>
              </a:rPr>
              <a:t>[6] FIRST - CVSS v3.1 Specification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3093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9AA3B5"/>
                </a:solidFill>
                <a:latin typeface="Calibri"/>
              </a:rPr>
              <a:t>Likely Q&amp;A: why finite-field DH? why is F-01 the critical path? what could the test not cover?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Information Security - Semester Project | Summer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9AA3B5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